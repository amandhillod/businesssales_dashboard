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sldIdLst>
    <p:sldId id="264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D8814-995E-4970-A8D5-AA670730FA18}" v="30" dt="2025-10-09T18:21:37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90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IN" dirty="0"/>
              <a:t>Northwind Traders</a:t>
            </a:r>
            <a:endParaRPr lang="en-US" sz="6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345859"/>
            <a:ext cx="8652788" cy="101585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  BY  </a:t>
            </a:r>
          </a:p>
          <a:p>
            <a:pPr>
              <a:spcAft>
                <a:spcPts val="600"/>
              </a:spcAft>
            </a:pPr>
            <a:r>
              <a:rPr lang="en-US" dirty="0"/>
              <a:t>AMAN DHILLOD</a:t>
            </a:r>
          </a:p>
          <a:p>
            <a:pPr>
              <a:spcAft>
                <a:spcPts val="600"/>
              </a:spcAft>
            </a:pPr>
            <a:endParaRPr lang="en-US" sz="18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Introduction Of </a:t>
            </a:r>
            <a:r>
              <a:rPr lang="en-US" dirty="0" err="1"/>
              <a:t>NorthWind</a:t>
            </a:r>
            <a:r>
              <a:rPr lang="en-US" dirty="0"/>
              <a:t> Traders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0CCC38-0165-E256-176C-D5252A0E1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Northwind Traders is a well-established wholesale company specializing in the distribution of food and beverage products across international markets. Known for its diverse product catalog and efficient supply chain, Northwind serves a wide range of customers including retailers, restaurants, and specialty stores. The company prides itself on strong customer relationships, a dedicated sales team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9225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78CD-9FFE-EC02-F1E1-098E2824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Sales Analysis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A91DD1-5719-C556-5A3C-482693A41D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3290" y="2042773"/>
            <a:ext cx="1142508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Total Sales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total sales amount stands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$1.27 million (1.27M)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reflecting a strong overall business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show a consistent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year-over-year growth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increasing market demand and effective sales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by Country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United States (USA)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United Kingdom (UK)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top-performing countries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contributing the largest share of total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regions demonstrate a stable customer base and strong purchasing power.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Sales by City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top-performing 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Tsawwassen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the highest contribution to total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indicates that Tsawwassen could be a key target area for future marketing and expansion efforts.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1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AA4C-B938-4E27-ADAE-628BD1F40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712839" y="540773"/>
            <a:ext cx="10058400" cy="727587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21DF52-4742-0A18-A010-8680CAE114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181274"/>
            <a:ext cx="1072207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Sales by Region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highest-performing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 (São Paulo)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RJ (Rio de Janeiro)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regions consistently deliver high revenue, highlighting their importance to the company’s regional sales strategy.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Category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in-demand 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Meat/Poultry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strong and consistent growth each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Annual sales for this category have exceeded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$900K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annual growth rate of 1.2%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indicates rising consumer preference for this category, making it a strategic focus for product development and marketing.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362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9DE50-5860-72AC-82DA-A569B5D1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645" y="550605"/>
            <a:ext cx="10058400" cy="796413"/>
          </a:xfrm>
        </p:spPr>
        <p:txBody>
          <a:bodyPr/>
          <a:lstStyle/>
          <a:p>
            <a:r>
              <a:rPr lang="en-US" dirty="0"/>
              <a:t>                                                                       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E77523-CDAE-A388-7D33-47C31A3B51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3458" y="2319773"/>
            <a:ext cx="114447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Yearly Growth Trend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sales have shown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steady upward trend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driven by high-performing categories and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suggests a positive trajectory in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volume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 expansion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Opportunities &amp; Insights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product availability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efforts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top regions (SP, RJ) and top cities like Tsawwassen.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expanding the Meat/Poultry 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its continuous growth and strong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 and promotional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USA and UK to sustain growth and customer loyalty.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26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58675-37CB-A80A-7758-CD694344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SALES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B8E255-BDFD-1304-10A2-8B4293233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948" y="442452"/>
            <a:ext cx="11297265" cy="6046838"/>
          </a:xfrm>
        </p:spPr>
      </p:pic>
    </p:spTree>
    <p:extLst>
      <p:ext uri="{BB962C8B-B14F-4D97-AF65-F5344CB8AC3E}">
        <p14:creationId xmlns:p14="http://schemas.microsoft.com/office/powerpoint/2010/main" val="14041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4DCE-1D0F-0ECB-11CD-AC7EB684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PERFORMACE OF NORTHWIND TRADERS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A8B82-7DA2-FA85-B915-4C21660F3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 1)  Overall Sales Performance</a:t>
            </a:r>
          </a:p>
          <a:p>
            <a:r>
              <a:rPr lang="en-US" dirty="0"/>
              <a:t>The </a:t>
            </a:r>
            <a:r>
              <a:rPr lang="en-US" b="1" dirty="0"/>
              <a:t>total sales amount</a:t>
            </a:r>
            <a:r>
              <a:rPr lang="en-US" dirty="0"/>
              <a:t> recorded is approximately </a:t>
            </a:r>
            <a:r>
              <a:rPr lang="en-US" b="1" dirty="0"/>
              <a:t>$1.05 million</a:t>
            </a:r>
            <a:r>
              <a:rPr lang="en-US" dirty="0"/>
              <a:t>.</a:t>
            </a:r>
          </a:p>
          <a:p>
            <a:r>
              <a:rPr lang="en-US" b="1" dirty="0"/>
              <a:t>Top performer:</a:t>
            </a:r>
            <a:r>
              <a:rPr lang="en-US" dirty="0"/>
              <a:t> </a:t>
            </a:r>
            <a:r>
              <a:rPr lang="en-US" i="1" dirty="0"/>
              <a:t>Margaret</a:t>
            </a:r>
            <a:r>
              <a:rPr lang="en-US" dirty="0"/>
              <a:t> with sales of </a:t>
            </a:r>
            <a:r>
              <a:rPr lang="en-US" b="1" dirty="0"/>
              <a:t>$232,890.85</a:t>
            </a:r>
            <a:r>
              <a:rPr lang="en-US" dirty="0"/>
              <a:t>, followed by </a:t>
            </a:r>
            <a:r>
              <a:rPr lang="en-US" i="1" dirty="0"/>
              <a:t>Janet</a:t>
            </a:r>
            <a:r>
              <a:rPr lang="en-US" dirty="0"/>
              <a:t> and </a:t>
            </a:r>
            <a:r>
              <a:rPr lang="en-US" i="1" dirty="0"/>
              <a:t>Nancy</a:t>
            </a:r>
            <a:r>
              <a:rPr lang="en-US" dirty="0"/>
              <a:t>.</a:t>
            </a:r>
          </a:p>
          <a:p>
            <a:r>
              <a:rPr lang="en-US" dirty="0"/>
              <a:t>Sales contributions are well distributed among the top employees, indicating a balanced team performance.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2) Employee Distribution by Title</a:t>
            </a:r>
          </a:p>
          <a:p>
            <a:r>
              <a:rPr lang="en-US" dirty="0"/>
              <a:t>The majority of employees are </a:t>
            </a:r>
            <a:r>
              <a:rPr lang="en-US" b="1" dirty="0"/>
              <a:t>Sales Representatives</a:t>
            </a:r>
            <a:r>
              <a:rPr lang="en-US" dirty="0"/>
              <a:t>, showing that the company’s sales operations rely heavily on front-line staff.</a:t>
            </a:r>
          </a:p>
          <a:p>
            <a:r>
              <a:rPr lang="en-US" dirty="0"/>
              <a:t>A smaller number of employees hold positions such as </a:t>
            </a:r>
            <a:r>
              <a:rPr lang="en-US" b="1" dirty="0"/>
              <a:t>Inside Sales Coordinator</a:t>
            </a:r>
            <a:r>
              <a:rPr lang="en-US" dirty="0"/>
              <a:t>, </a:t>
            </a:r>
            <a:r>
              <a:rPr lang="en-US" b="1" dirty="0"/>
              <a:t>Sales Manager</a:t>
            </a:r>
            <a:r>
              <a:rPr lang="en-US" dirty="0"/>
              <a:t>, and </a:t>
            </a:r>
            <a:r>
              <a:rPr lang="en-US" b="1" dirty="0"/>
              <a:t>Vice President of Sales</a:t>
            </a:r>
            <a:r>
              <a:rPr lang="en-US" dirty="0"/>
              <a:t>, reflecting a lean management structure.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672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83BD-9855-935B-9B1A-931A3B9E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8004-BA99-3892-1C77-DD8EEDD78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11228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3) Sales by Country</a:t>
            </a:r>
          </a:p>
          <a:p>
            <a:r>
              <a:rPr lang="en-US" b="1" dirty="0"/>
              <a:t>USA</a:t>
            </a:r>
            <a:r>
              <a:rPr lang="en-US" dirty="0"/>
              <a:t> contributes </a:t>
            </a:r>
            <a:r>
              <a:rPr lang="en-US" b="1" dirty="0"/>
              <a:t>55.56%</a:t>
            </a:r>
            <a:r>
              <a:rPr lang="en-US" dirty="0"/>
              <a:t> of total employee count, while the </a:t>
            </a:r>
            <a:r>
              <a:rPr lang="en-US" b="1" dirty="0"/>
              <a:t>UK</a:t>
            </a:r>
            <a:r>
              <a:rPr lang="en-US" dirty="0"/>
              <a:t> accounts for </a:t>
            </a:r>
            <a:r>
              <a:rPr lang="en-US" b="1" dirty="0"/>
              <a:t>44.44%</a:t>
            </a:r>
            <a:r>
              <a:rPr lang="en-US" dirty="0"/>
              <a:t>.</a:t>
            </a:r>
          </a:p>
          <a:p>
            <a:r>
              <a:rPr lang="en-US" dirty="0"/>
              <a:t>This suggests a strong market presence in both countries, with the USA slightly leading.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4)Employee Hire Trends</a:t>
            </a:r>
          </a:p>
          <a:p>
            <a:r>
              <a:rPr lang="en-US" dirty="0"/>
              <a:t>Employee hiring peaked between </a:t>
            </a:r>
            <a:r>
              <a:rPr lang="en-US" b="1" dirty="0"/>
              <a:t>1992 and 1994</a:t>
            </a:r>
            <a:r>
              <a:rPr lang="en-US" dirty="0"/>
              <a:t>, indicating long-standing staff retention and experience in the team.</a:t>
            </a:r>
          </a:p>
          <a:p>
            <a:r>
              <a:rPr lang="en-US" dirty="0"/>
              <a:t>Stable hiring patterns suggest consistent growth and a mature sales department.</a:t>
            </a:r>
          </a:p>
          <a:p>
            <a:endParaRPr lang="en-US" dirty="0"/>
          </a:p>
          <a:p>
            <a:r>
              <a:rPr lang="en-US" b="1" dirty="0"/>
              <a:t>Employee Summary</a:t>
            </a:r>
          </a:p>
          <a:p>
            <a:r>
              <a:rPr lang="en-US" dirty="0"/>
              <a:t>The dashboard shows a total of </a:t>
            </a:r>
            <a:r>
              <a:rPr lang="en-US" b="1" dirty="0"/>
              <a:t>9 employees</a:t>
            </a:r>
            <a:r>
              <a:rPr lang="en-US" dirty="0"/>
              <a:t> analyzed in this dataset.</a:t>
            </a:r>
          </a:p>
          <a:p>
            <a:r>
              <a:rPr lang="en-US" dirty="0"/>
              <a:t>Employee data includes key performance metrics such as </a:t>
            </a:r>
            <a:r>
              <a:rPr lang="en-US" i="1" dirty="0"/>
              <a:t>First Name, Total Sales, Hire Date, Title,</a:t>
            </a:r>
            <a:r>
              <a:rPr lang="en-US" dirty="0"/>
              <a:t> and </a:t>
            </a:r>
            <a:r>
              <a:rPr lang="en-US" i="1" dirty="0"/>
              <a:t>Country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30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96219-4311-99B4-51DC-DC029706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Employee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75A016-CDCC-2663-5413-B56A9A65F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116" y="462116"/>
            <a:ext cx="11356258" cy="6007510"/>
          </a:xfrm>
        </p:spPr>
      </p:pic>
    </p:spTree>
    <p:extLst>
      <p:ext uri="{BB962C8B-B14F-4D97-AF65-F5344CB8AC3E}">
        <p14:creationId xmlns:p14="http://schemas.microsoft.com/office/powerpoint/2010/main" val="2314682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91F63-B06F-A3EF-432B-4D8082F9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Customer </a:t>
            </a:r>
            <a:r>
              <a:rPr lang="en-US" dirty="0" err="1"/>
              <a:t>Behaviour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7D8B8-13C1-FC5A-5116-FED143880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1. Customer Order Patterns</a:t>
            </a:r>
          </a:p>
          <a:p>
            <a:r>
              <a:rPr lang="en-US" dirty="0"/>
              <a:t>The </a:t>
            </a:r>
            <a:r>
              <a:rPr lang="en-US" b="1" dirty="0"/>
              <a:t>highest number of orders</a:t>
            </a:r>
            <a:r>
              <a:rPr lang="en-US" dirty="0"/>
              <a:t> were placed by a few </a:t>
            </a:r>
            <a:r>
              <a:rPr lang="en-US" b="1" dirty="0"/>
              <a:t>key customers</a:t>
            </a:r>
            <a:r>
              <a:rPr lang="en-US" dirty="0"/>
              <a:t>, indicating strong loyalty among top clients.</a:t>
            </a:r>
          </a:p>
          <a:p>
            <a:r>
              <a:rPr lang="en-US" dirty="0"/>
              <a:t>Customer IDs such as </a:t>
            </a:r>
            <a:r>
              <a:rPr lang="en-US" b="1" dirty="0"/>
              <a:t>SAVEA</a:t>
            </a:r>
            <a:r>
              <a:rPr lang="en-US" dirty="0"/>
              <a:t>, </a:t>
            </a:r>
            <a:r>
              <a:rPr lang="en-US" b="1" dirty="0"/>
              <a:t>ERNST</a:t>
            </a:r>
            <a:r>
              <a:rPr lang="en-US" dirty="0"/>
              <a:t>, and </a:t>
            </a:r>
            <a:r>
              <a:rPr lang="en-US" b="1" dirty="0"/>
              <a:t>FOLKO</a:t>
            </a:r>
            <a:r>
              <a:rPr lang="en-US" dirty="0"/>
              <a:t> recorded </a:t>
            </a:r>
            <a:r>
              <a:rPr lang="en-US" b="1" dirty="0"/>
              <a:t>more than 25 orders each</a:t>
            </a:r>
            <a:r>
              <a:rPr lang="en-US" dirty="0"/>
              <a:t>, showing consistent purchasing behavior.</a:t>
            </a:r>
          </a:p>
          <a:p>
            <a:r>
              <a:rPr lang="en-US" dirty="0"/>
              <a:t>The remaining customers placed between </a:t>
            </a:r>
            <a:r>
              <a:rPr lang="en-US" b="1" dirty="0"/>
              <a:t>10–20 orders</a:t>
            </a:r>
            <a:r>
              <a:rPr lang="en-US" dirty="0"/>
              <a:t>, suggesting moderate engagement levels.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2)  New vs. Repeat Customers</a:t>
            </a:r>
          </a:p>
          <a:p>
            <a:r>
              <a:rPr lang="en-US" b="1" dirty="0"/>
              <a:t>Repeat Customers:</a:t>
            </a:r>
            <a:r>
              <a:rPr lang="en-US" dirty="0"/>
              <a:t> 822 (≈ </a:t>
            </a:r>
            <a:r>
              <a:rPr lang="en-US" b="1" dirty="0"/>
              <a:t>90.23%</a:t>
            </a:r>
            <a:r>
              <a:rPr lang="en-US" dirty="0"/>
              <a:t>)</a:t>
            </a:r>
          </a:p>
          <a:p>
            <a:r>
              <a:rPr lang="en-US" b="1" dirty="0"/>
              <a:t>New Customers:</a:t>
            </a:r>
            <a:r>
              <a:rPr lang="en-US" dirty="0"/>
              <a:t> 89 (≈ </a:t>
            </a:r>
            <a:r>
              <a:rPr lang="en-US" b="1" dirty="0"/>
              <a:t>9.77%</a:t>
            </a:r>
            <a:r>
              <a:rPr lang="en-US" dirty="0"/>
              <a:t>)</a:t>
            </a:r>
          </a:p>
          <a:p>
            <a:r>
              <a:rPr lang="en-US" dirty="0"/>
              <a:t>This indicates a </a:t>
            </a:r>
            <a:r>
              <a:rPr lang="en-US" b="1" dirty="0"/>
              <a:t>high customer retention rate</a:t>
            </a:r>
            <a:r>
              <a:rPr lang="en-US" dirty="0"/>
              <a:t>, showing strong brand loyalty and satisfaction.</a:t>
            </a:r>
          </a:p>
          <a:p>
            <a:r>
              <a:rPr lang="en-US" dirty="0"/>
              <a:t>The data suggests that maintaining existing customers is a major strength, while </a:t>
            </a:r>
            <a:r>
              <a:rPr lang="en-US" b="1" dirty="0"/>
              <a:t>new customer acquisition</a:t>
            </a:r>
            <a:r>
              <a:rPr lang="en-US" dirty="0"/>
              <a:t> remains an area for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985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EA4F-D889-A715-A054-3C6AAE587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8B371-DC70-1227-3BAE-7E1A3B704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6979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3) Sales by Customer</a:t>
            </a:r>
          </a:p>
          <a:p>
            <a:r>
              <a:rPr lang="en-US" dirty="0"/>
              <a:t>The </a:t>
            </a:r>
            <a:r>
              <a:rPr lang="en-US" b="1" dirty="0"/>
              <a:t>top 3 customers</a:t>
            </a:r>
            <a:r>
              <a:rPr lang="en-US" dirty="0"/>
              <a:t> — </a:t>
            </a:r>
            <a:r>
              <a:rPr lang="en-US" b="1" dirty="0"/>
              <a:t>QUICK ($110.28K)</a:t>
            </a:r>
            <a:r>
              <a:rPr lang="en-US" dirty="0"/>
              <a:t>, </a:t>
            </a:r>
            <a:r>
              <a:rPr lang="en-US" b="1" dirty="0"/>
              <a:t>ERNSH ($104.87K)</a:t>
            </a:r>
            <a:r>
              <a:rPr lang="en-US" dirty="0"/>
              <a:t>, and </a:t>
            </a:r>
            <a:r>
              <a:rPr lang="en-US" b="1" dirty="0"/>
              <a:t>SAVEA ($104.36K)</a:t>
            </a:r>
            <a:r>
              <a:rPr lang="en-US" dirty="0"/>
              <a:t> — contribute a </a:t>
            </a:r>
            <a:r>
              <a:rPr lang="en-US" b="1" dirty="0"/>
              <a:t>significant share of total revenue</a:t>
            </a:r>
            <a:r>
              <a:rPr lang="en-US" dirty="0"/>
              <a:t>.</a:t>
            </a:r>
          </a:p>
          <a:p>
            <a:r>
              <a:rPr lang="en-US" dirty="0"/>
              <a:t>Together, these three customers account for nearly </a:t>
            </a:r>
            <a:r>
              <a:rPr lang="en-US" b="1" dirty="0"/>
              <a:t>one-fourth (≈24.8%)</a:t>
            </a:r>
            <a:r>
              <a:rPr lang="en-US" dirty="0"/>
              <a:t> of the total sales.</a:t>
            </a:r>
          </a:p>
          <a:p>
            <a:r>
              <a:rPr lang="en-US" dirty="0"/>
              <a:t>This concentration indicates </a:t>
            </a:r>
            <a:r>
              <a:rPr lang="en-US" b="1" dirty="0"/>
              <a:t>dependence on a few high-value customers</a:t>
            </a:r>
            <a:r>
              <a:rPr lang="en-US" dirty="0"/>
              <a:t>, making customer relationship management crucial.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4) Customer Distribution by Country</a:t>
            </a:r>
          </a:p>
          <a:p>
            <a:r>
              <a:rPr lang="en-US" b="1" dirty="0"/>
              <a:t>Germany</a:t>
            </a:r>
            <a:r>
              <a:rPr lang="en-US" dirty="0"/>
              <a:t> and the </a:t>
            </a:r>
            <a:r>
              <a:rPr lang="en-US" b="1" dirty="0"/>
              <a:t>USA</a:t>
            </a:r>
            <a:r>
              <a:rPr lang="en-US" dirty="0"/>
              <a:t> are the </a:t>
            </a:r>
            <a:r>
              <a:rPr lang="en-US" b="1" dirty="0"/>
              <a:t>top markets</a:t>
            </a:r>
            <a:r>
              <a:rPr lang="en-US" dirty="0"/>
              <a:t>, each contributing </a:t>
            </a:r>
            <a:r>
              <a:rPr lang="en-US" b="1" dirty="0"/>
              <a:t>14.7%</a:t>
            </a:r>
            <a:r>
              <a:rPr lang="en-US" dirty="0"/>
              <a:t> of total customers.</a:t>
            </a:r>
          </a:p>
          <a:p>
            <a:r>
              <a:rPr lang="en-US" b="1" dirty="0"/>
              <a:t>Brazil (10%)</a:t>
            </a:r>
            <a:r>
              <a:rPr lang="en-US" dirty="0"/>
              <a:t>, </a:t>
            </a:r>
            <a:r>
              <a:rPr lang="en-US" b="1" dirty="0"/>
              <a:t>UK (9.28%)</a:t>
            </a:r>
            <a:r>
              <a:rPr lang="en-US" dirty="0"/>
              <a:t>, </a:t>
            </a:r>
            <a:r>
              <a:rPr lang="en-US" b="1" dirty="0"/>
              <a:t>France (6.75%)</a:t>
            </a:r>
            <a:r>
              <a:rPr lang="en-US" dirty="0"/>
              <a:t>, and </a:t>
            </a:r>
            <a:r>
              <a:rPr lang="en-US" b="1" dirty="0"/>
              <a:t>Venezuela (4.82%)</a:t>
            </a:r>
            <a:r>
              <a:rPr lang="en-US" dirty="0"/>
              <a:t> follow closely behind.</a:t>
            </a:r>
          </a:p>
          <a:p>
            <a:r>
              <a:rPr lang="en-US" dirty="0"/>
              <a:t>This reflects a </a:t>
            </a:r>
            <a:r>
              <a:rPr lang="en-US" b="1" dirty="0"/>
              <a:t>strong international presence</a:t>
            </a:r>
            <a:r>
              <a:rPr lang="en-US" dirty="0"/>
              <a:t>, with key customer bases in both </a:t>
            </a:r>
            <a:r>
              <a:rPr lang="en-US" b="1" dirty="0"/>
              <a:t>North America and Europe</a:t>
            </a:r>
            <a:r>
              <a:rPr lang="en-US" dirty="0"/>
              <a:t>.</a:t>
            </a:r>
          </a:p>
          <a:p>
            <a:r>
              <a:rPr lang="en-US" dirty="0"/>
              <a:t>There is an opportunity to </a:t>
            </a:r>
            <a:r>
              <a:rPr lang="en-US" b="1" dirty="0"/>
              <a:t>expand customer engagement</a:t>
            </a:r>
            <a:r>
              <a:rPr lang="en-US" dirty="0"/>
              <a:t> in smaller markets like </a:t>
            </a:r>
            <a:r>
              <a:rPr lang="en-US" b="1" dirty="0"/>
              <a:t>Austria, Sweden, and Venezuela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393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1E33-26F1-6336-5107-3CA05BAF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DC09C-7EA9-8611-E1C3-054645DF4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5) Key Customer Behavior Insights</a:t>
            </a:r>
          </a:p>
          <a:p>
            <a:r>
              <a:rPr lang="en-US" dirty="0"/>
              <a:t>Most customers are </a:t>
            </a:r>
            <a:r>
              <a:rPr lang="en-US" b="1" dirty="0"/>
              <a:t>repeat buyers</a:t>
            </a:r>
            <a:r>
              <a:rPr lang="en-US" dirty="0"/>
              <a:t>, proving high satisfaction and brand trust.</a:t>
            </a:r>
          </a:p>
          <a:p>
            <a:r>
              <a:rPr lang="en-US" dirty="0"/>
              <a:t>A few </a:t>
            </a:r>
            <a:r>
              <a:rPr lang="en-US" b="1" dirty="0"/>
              <a:t>key customers drive a large portion of sales</a:t>
            </a:r>
            <a:r>
              <a:rPr lang="en-US" dirty="0"/>
              <a:t>, showing </a:t>
            </a:r>
            <a:r>
              <a:rPr lang="en-US" b="1" dirty="0"/>
              <a:t>high-value relationships</a:t>
            </a:r>
            <a:r>
              <a:rPr lang="en-US" dirty="0"/>
              <a:t>.</a:t>
            </a:r>
          </a:p>
          <a:p>
            <a:r>
              <a:rPr lang="en-US" b="1" dirty="0"/>
              <a:t>Top countries (Germany, USA, Brazil, and UK)</a:t>
            </a:r>
            <a:r>
              <a:rPr lang="en-US" dirty="0"/>
              <a:t> dominate the customer base — strong opportunities exist for targeted marketing campaigns here.</a:t>
            </a:r>
          </a:p>
          <a:p>
            <a:r>
              <a:rPr lang="en-US" dirty="0"/>
              <a:t>Product performance data suggests that </a:t>
            </a:r>
            <a:r>
              <a:rPr lang="en-US" b="1" dirty="0"/>
              <a:t>a few premium items</a:t>
            </a:r>
            <a:r>
              <a:rPr lang="en-US" dirty="0"/>
              <a:t> are leading revenue growth, highlighting potential for </a:t>
            </a:r>
            <a:r>
              <a:rPr lang="en-US" b="1" dirty="0"/>
              <a:t>cross-selling or bundling strategies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813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BC00-1535-BE82-2AB0-6E2B68837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69CE6-7017-2390-235D-404294271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353962"/>
            <a:ext cx="11503742" cy="6105832"/>
          </a:xfrm>
        </p:spPr>
      </p:pic>
    </p:spTree>
    <p:extLst>
      <p:ext uri="{BB962C8B-B14F-4D97-AF65-F5344CB8AC3E}">
        <p14:creationId xmlns:p14="http://schemas.microsoft.com/office/powerpoint/2010/main" val="25077013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2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71af3243-3dd4-4a8d-8c0d-dd76da1f02a5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{3B11708C-601A-4935-B3A4-54FBC11EF4FF}tf11531919_win32</Template>
  <TotalTime>78</TotalTime>
  <Words>951</Words>
  <Application>Microsoft Office PowerPoint</Application>
  <PresentationFormat>Widescreen</PresentationFormat>
  <Paragraphs>88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Avenir Next LT Pro</vt:lpstr>
      <vt:lpstr>Avenir Next LT Pro Light</vt:lpstr>
      <vt:lpstr>Calibri</vt:lpstr>
      <vt:lpstr>Garamond</vt:lpstr>
      <vt:lpstr>SavonVTI</vt:lpstr>
      <vt:lpstr>Northwind Traders</vt:lpstr>
      <vt:lpstr>Introduction Of NorthWind Traders</vt:lpstr>
      <vt:lpstr>Sales Analysis</vt:lpstr>
      <vt:lpstr>PowerPoint Presentation</vt:lpstr>
      <vt:lpstr>                                                                        </vt:lpstr>
      <vt:lpstr>SALES DASHBOARD</vt:lpstr>
      <vt:lpstr>EMPLOYEE PERFORMACE OF NORTHWIND TRADERS</vt:lpstr>
      <vt:lpstr>PowerPoint Presentation</vt:lpstr>
      <vt:lpstr>Employee Dashboard</vt:lpstr>
      <vt:lpstr>Customer Behaviour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Dhillod</dc:creator>
  <cp:lastModifiedBy>Aman Dhillod</cp:lastModifiedBy>
  <cp:revision>3</cp:revision>
  <dcterms:created xsi:type="dcterms:W3CDTF">2025-10-09T11:19:28Z</dcterms:created>
  <dcterms:modified xsi:type="dcterms:W3CDTF">2026-03-20T16:40:15Z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